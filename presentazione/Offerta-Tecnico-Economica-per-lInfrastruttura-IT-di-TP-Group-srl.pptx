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59" r:id="rId6"/>
    <p:sldId id="260" r:id="rId7"/>
    <p:sldId id="268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12192000"/>
  <p:embeddedFontLst>
    <p:embeddedFont>
      <p:font typeface="DM Sans Light" panose="020B0604020202020204" charset="0"/>
      <p:regular r:id="rId21"/>
    </p:embeddedFont>
    <p:embeddedFont>
      <p:font typeface="DM Sans SemiBold" panose="020B0604020202020204" charset="0"/>
      <p:regular r:id="rId22"/>
    </p:embeddedFont>
    <p:embeddedFont>
      <p:font typeface="Inter Bold" panose="020B0604020202020204" charset="0"/>
      <p:regular r:id="rId23"/>
    </p:embeddedFont>
    <p:embeddedFont>
      <p:font typeface="Inter Medium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8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5948-DB6E-1314-D675-83E5EB8F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F3520-B186-4158-F462-6BA7FED4D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37611-C44D-DFD1-14B7-1805CB5C0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B4AB5-43DC-F4EA-F626-886E299EE0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11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11759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Offerta Tecnico-Economica per l'Infrastruttura IT di TP Group srl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810000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MOSAIC GROUP — Progetto ACA, Learning by Project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260652"/>
            <a:ext cx="2832724" cy="251420"/>
          </a:xfrm>
          <a:prstGeom prst="roundRect">
            <a:avLst>
              <a:gd name="adj" fmla="val 7894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60691" y="4310261"/>
            <a:ext cx="324387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ALESSANDRO VERDUNA (TEAM LEADER)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576846" y="4260652"/>
            <a:ext cx="1373649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676062" y="4310261"/>
            <a:ext cx="17848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CRISTIAN TORRES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33142" y="4260652"/>
            <a:ext cx="1464631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132358" y="4310261"/>
            <a:ext cx="187578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MATTEO PIRONATO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1475" y="4594721"/>
            <a:ext cx="1607304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60691" y="4644330"/>
            <a:ext cx="201845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RICCARDO GOUTHIER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51426" y="4594721"/>
            <a:ext cx="1838081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2450642" y="4644330"/>
            <a:ext cx="224923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YOUSSEF ABDELMONEIM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59532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Chi Siamo: MOSAIC GROUP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624310"/>
            <a:ext cx="629686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 membri del team provengono dal corso ACA (AWS Cloud Architect) e operano con competenze complementari nell'ambito del cloud computing, dell'integrazione infrastrutturale e della progettazione di architetture distribuite. 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398044"/>
            <a:ext cx="3065783" cy="1482130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398655" y="3563342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98655" y="3921026"/>
            <a:ext cx="27351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Progettazione e gestione di architetture AWS scalabili e ridondate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64437" y="3398044"/>
            <a:ext cx="3065783" cy="1482130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8629732" y="3563342"/>
            <a:ext cx="273519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Integrazione Infrastrutturale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29732" y="4179491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Unificazione di ambienti eterogenei post-fusione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5045472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398655" y="5210770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Sicurezza &amp; Continuità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8655" y="5568454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Conformità ISO/IEC 27001, backup cifrati e disaster recovery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47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Tematiche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9220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L'offerta propone un percorso completo di convergenza e potenziamento dell'infrastruttura IT di TP Group, in seguito alla fusione tra Thema Consulting e Pro Studio. 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07469"/>
            <a:ext cx="3512653" cy="1520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79181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Espansione HPC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3149501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Estensione del cluster HPC tramite risorse AWS, mantenendo attiva la capacità di calcolo on-premise.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2607469"/>
            <a:ext cx="3512752" cy="1520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9964" y="2791817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Migrazione Pondus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99964" y="3149501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Migrazione dell'applicativo Pondus su AWS con architettura scalabile, ridondata e Multi-AZ.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2607469"/>
            <a:ext cx="3512653" cy="15202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78010" y="279181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Adeguamento LAN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78010" y="3149501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Espansione della LAN per 10 postazioni aggiuntive con segmentazione tramite vLAN.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92997"/>
            <a:ext cx="3512653" cy="1520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2017" y="4477345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Convergenza SaaS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922017" y="4835029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Unificazione degli strumenti di produttività, gestione e versionamento in un unico stack tecnologico.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4292997"/>
            <a:ext cx="3512752" cy="15202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99964" y="4477345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Conformità ISO 27001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599964" y="4835029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Predisposizione dell'infrastruttura ai controlli richiesti dalla norma ISO/IEC 27001.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949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Attività</a:t>
            </a: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</a:t>
            </a:r>
            <a:r>
              <a:rPr lang="en-US" sz="3250" dirty="0" err="1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Tecnico</a:t>
            </a: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-Operative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9692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58863"/>
            <a:ext cx="5351725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61475" y="1979613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Assessment Iniziale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337296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Inventario di applicativi, licenze e SLA di Thema Consulting e Pro Studio.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8495" y="159692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1858863"/>
            <a:ext cx="5351725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178495" y="1979613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Progettazione Architettura Target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8495" y="2337296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Definizione dell'architettura AWS per HPC, Pondus e servizi gestionali.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1475" y="315585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417788"/>
            <a:ext cx="5351725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61475" y="353853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Configurazione Identità Centralizzata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475" y="3896221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AWS IAM Identity Center con SSO verso Google Workspace e Odoo.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8495" y="315585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495" y="3417788"/>
            <a:ext cx="5351725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78495" y="353853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Migrazione Pondus &amp; Estensione HPC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8495" y="3896221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Migrazione su EC2/RDS Multi-AZ; cluster HPC con EFA e FSx for Lustre.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1475" y="471477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475" y="4976713"/>
            <a:ext cx="5351725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61475" y="5097463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Adeguamento LAN &amp; Convergenza SaaS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475" y="5455146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vLAN, cablaggio aggiornato e migrazione verso stack SaaS-first unificato.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8495" y="471477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8495" y="4976713"/>
            <a:ext cx="5351725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178495" y="5097463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Backup, Test &amp; Disaster Recovery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8495" y="5455146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Backup cifrati e delocalizzati; test funzionali, di sicurezza e DR documentati.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683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Approccio Progettuale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5115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La nostra strategia per il potenziamento dell'infrastruttura 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357662"/>
            <a:ext cx="10868745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Scalabilità e alta disponibilità su AWS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Integrazione del cluster HPC con il cloud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Identità centralizzata e permessi minimi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Sicurezza, ridondanza e continuità operativa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683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Assunzioni Progettuali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5115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Prerequisiti e condizioni per l'implementazione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357662"/>
            <a:ext cx="10868745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Accesso amministrativo all'account AWS in fase di implementazione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Possibile sostituzione dell'hardware di rete se non compatibile con l'espansione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Capacità di calcolo on-premise mantenuta attiva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Eventuale accesso remoto ai sistemi tramite connessione sicura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86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Convergenza SaaS-First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8606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 unico stack per identità e produttività, con governance centralizzata e accessi semplificati.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236714"/>
            <a:ext cx="10868745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Google Workspace — posta, documenti, drive e meeting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Odoo SaaS — CRM, contabilità e ore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Bitbucket SaaS — codice e pipeline CI/CD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Profis — sola lettura su EC2 per 1 anno, poi dismissione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65474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Identity Center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come broker centrale, con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MFA obbligatoria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per tutti.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706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Cluster HPC — Estensione Ibrida On-Premise/AWS</a:t>
            </a:r>
            <a:endParaRPr lang="en-US" sz="3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331" y="497384"/>
            <a:ext cx="4932934" cy="58631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882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Cluster HPC — Dettagli Tecnici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36254"/>
            <a:ext cx="3512653" cy="1255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12060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12 Nodi EC2 hpc7g.4xlarge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478286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(16 vCPU, 128 GB RAM, rete 200 Gbps)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1936254"/>
            <a:ext cx="3512752" cy="12556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2120602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Elastic Fabric Adapter (EFA)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2478286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 latenza e throughput comparabili a Infiniband.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1936254"/>
            <a:ext cx="3512653" cy="12556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212060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Storage Condiviso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2478286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Amazon FSx for Lustre Scratch (1,2 TB per nodo, 200 MB/s per TiB).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57166"/>
            <a:ext cx="3512653" cy="12556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3541514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Head Node/Scheduler Slurm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22017" y="3899198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Accende istanze EC2 solo con job attivi.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3357166"/>
            <a:ext cx="3512752" cy="12556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9964" y="3541514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Monitoraggio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599964" y="3899198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CloudWatch e CloudTrail.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3357166"/>
            <a:ext cx="3512653" cy="12556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78010" y="3541514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Gestione Accessi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8278010" y="3899198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Ruoli IAM a privilegio minimo.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78077"/>
            <a:ext cx="3512653" cy="99099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22017" y="4962426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Archiviazione Risultati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922017" y="5320109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 Amazon S3.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706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Pondus — Migrazione su AWS</a:t>
            </a:r>
            <a:endParaRPr lang="en-US" sz="3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40048"/>
            <a:ext cx="10868745" cy="57779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385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Pondus — Dettagli Tecnici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71278"/>
            <a:ext cx="3512653" cy="11440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155627"/>
            <a:ext cx="306776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Migrazione da IIS/SQL Server on-premise a AWS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1971278"/>
            <a:ext cx="3512752" cy="1144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99964" y="2155627"/>
            <a:ext cx="306786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Application Load Balancer con terminazione HTTPS (AWS Certificate Manager)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1971278"/>
            <a:ext cx="3512653" cy="11440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78010" y="2155627"/>
            <a:ext cx="306776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Istanze EC2 m6i.4xlarge (16 vCPU, 64 GB RAM) in 2 Availability Zone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80668"/>
            <a:ext cx="3512653" cy="114409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2017" y="3465016"/>
            <a:ext cx="306776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Amazon RDS Aurora Multi-AZ (db.r5.2xlarge, 8 vCPU, 64 GB RAM, storage 1,2 TB)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3280668"/>
            <a:ext cx="3512752" cy="114409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599964" y="3465016"/>
            <a:ext cx="30678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Backup automatici e patching gestito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3280668"/>
            <a:ext cx="3512653" cy="114409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78010" y="3465016"/>
            <a:ext cx="306776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Migrazione dati via AWS Database Migration Service (DMS)</a:t>
            </a:r>
            <a:endParaRPr lang="en-US" sz="16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90058"/>
            <a:ext cx="3512653" cy="114409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22017" y="4774406"/>
            <a:ext cx="306776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Credenziali gestite con AWS Secrets Manager</a:t>
            </a:r>
            <a:endParaRPr lang="en-US" sz="16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4590058"/>
            <a:ext cx="3512752" cy="1144091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599964" y="4774406"/>
            <a:ext cx="306786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Accesso amministrativo via Systems Manager Session Manager</a:t>
            </a:r>
            <a:endParaRPr lang="en-US" sz="16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4590058"/>
            <a:ext cx="3512653" cy="1144091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278010" y="4774406"/>
            <a:ext cx="306776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Backup replicati in cross-region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763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Backup &amp; Disaster Recovery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1505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Backup delocalizzati e controlli periodici per supportare continuità operativa e conformità ISO/IEC 27001.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65710"/>
            <a:ext cx="5351725" cy="1104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121" y="2814538"/>
            <a:ext cx="198433" cy="1984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5819" y="3327202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Backup giornalieri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2665710"/>
            <a:ext cx="5351725" cy="11043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5141" y="2814538"/>
            <a:ext cx="198433" cy="19843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62838" y="3327202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Cross-region replication</a:t>
            </a:r>
            <a:endParaRPr lang="en-US" sz="1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35313"/>
            <a:ext cx="5351725" cy="110430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8121" y="4084141"/>
            <a:ext cx="198433" cy="19843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45819" y="4596805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Cifratura dei backup</a:t>
            </a:r>
            <a:endParaRPr lang="en-US" sz="16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3935313"/>
            <a:ext cx="5351725" cy="1104305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5141" y="4084141"/>
            <a:ext cx="198433" cy="19843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6362838" y="4596805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Test periodici di ripristino</a:t>
            </a:r>
            <a:endParaRPr lang="en-US" sz="1600" dirty="0"/>
          </a:p>
        </p:txBody>
      </p:sp>
      <p:sp>
        <p:nvSpPr>
          <p:cNvPr id="16" name="Text 6"/>
          <p:cNvSpPr/>
          <p:nvPr/>
        </p:nvSpPr>
        <p:spPr>
          <a:xfrm>
            <a:off x="661475" y="522565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Obiettivo disponibilità annua: 95%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0788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Proposta Economica — Dettaglio Costi (3 anni)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274564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 stime sono espresse su un orizzonte di 3 anni (36 mesi). I costi sono al netto di IVA e da intendersi come stime di pianificazione.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553567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HPC — Cluster su AWS (EC2 Savings Plans, 3 anni)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855986"/>
            <a:ext cx="10868745" cy="2004913"/>
          </a:xfrm>
          <a:prstGeom prst="roundRect">
            <a:avLst>
              <a:gd name="adj" fmla="val 86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61475" y="2132905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61475" y="2564110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61475" y="2995315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61475" y="3426520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381985" y="1855986"/>
            <a:ext cx="7236" cy="20049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095947" y="1855986"/>
            <a:ext cx="7236" cy="20049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809909" y="1855986"/>
            <a:ext cx="7236" cy="20049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83709" y="1917303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Componente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00846" y="1917303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Configurazione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4808" y="1917303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Totale 3 anni ($)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28770" y="1917303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Totale 3 anni (€)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3709" y="2191048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EC2 hpc7g.4xlarge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00846" y="2191048"/>
            <a:ext cx="24762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 istanze, EC2 Savings Plans, ~11.000 $/mese, Irlanda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4808" y="2191048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400.000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28770" y="2191048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3709" y="2622252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FSx for Lustre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0846" y="2622252"/>
            <a:ext cx="24762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Scratch, 1,2 TB/nodo, 2.220 $/mese per 12 nodi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4808" y="2622252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80.000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28770" y="2622252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3709" y="3053457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Head node / scheduler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00846" y="3053457"/>
            <a:ext cx="24762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c8gn.8xlarge, upfront 3 anni, sempre acceso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4808" y="3053457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20.500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28770" y="3053457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3709" y="3484662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TOTALE HPC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00846" y="3484662"/>
            <a:ext cx="24762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 impegno EC2 Savings Plans (vs. 576.000 $ a on-demand)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4808" y="3484662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500.500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28770" y="3484662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440.000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1475" y="3951982"/>
            <a:ext cx="1086874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Nota: il breakeven tra tariffa on-demand e Savings Plan si colloca al 70% di utilizzo del cluster; al di sotto di tale soglia la tariffa on-demand risulta più conveniente. La stima sopra assume l'adozione dei Savings Plans.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1475" y="4388445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Pondus — Piattaforma applicativa su AWS (3 anni)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1475" y="4690864"/>
            <a:ext cx="10868745" cy="1416248"/>
          </a:xfrm>
          <a:prstGeom prst="roundRect">
            <a:avLst>
              <a:gd name="adj" fmla="val 122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61475" y="4967784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61475" y="5398988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61475" y="5830193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381985" y="4690864"/>
            <a:ext cx="7236" cy="141624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095947" y="4690864"/>
            <a:ext cx="7236" cy="141624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8809909" y="4690864"/>
            <a:ext cx="7236" cy="141624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783709" y="4752181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Componente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00846" y="4752181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Configurazione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4808" y="4752181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Totale 3 anni ($)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928770" y="4752181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Totale 3 anni (€)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3709" y="5025926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EC2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00846" y="5025926"/>
            <a:ext cx="24762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m6i.4xlarge, 16 vCPU, 64 GB RAM, 2 istanze, upfront, Stoccolma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4808" y="5025926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17.000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928770" y="5025926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15.000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3709" y="5457130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RDS Aurora DB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500846" y="5457130"/>
            <a:ext cx="24762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db.r5.2xlarge, 8 vCPU, 64 GB RAM, storage gp3 1,2 TB, backup 2 TB, Stoccolma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4808" y="5457130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75.000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928770" y="5457130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66.000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3709" y="5888335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TOTALE PONDUS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500846" y="5888335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14808" y="5888335"/>
            <a:ext cx="30858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92.000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928770" y="5888335"/>
            <a:ext cx="30889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81.000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15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Licenze SaaS e System Integration (3 anni)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127720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Licenze SaaS e infrastruttura di supporto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597124"/>
            <a:ext cx="10868745" cy="4683621"/>
          </a:xfrm>
          <a:prstGeom prst="roundRect">
            <a:avLst>
              <a:gd name="adj" fmla="val 50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61475" y="2043509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61475" y="2486720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61475" y="2929930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61475" y="3373140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61475" y="3816350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61475" y="4259560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61475" y="4947940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61475" y="5391150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61475" y="5834360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286937" y="1597124"/>
            <a:ext cx="9820" cy="46836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904858" y="1597124"/>
            <a:ext cx="9820" cy="46836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6075" y="169932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47171" y="169932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Dettaglio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5092" y="169932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Costo annuo (€)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75" y="214253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Google Workspace Standard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47171" y="214253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50 dipendenti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65092" y="214253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8.160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6075" y="258574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Odoo Standard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47171" y="258574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 dipendenti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65092" y="258574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1.428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6075" y="302895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Bitbucket Standard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47171" y="302895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40 dipendenti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65092" y="302895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1.920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6075" y="347216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MediaWiki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47171" y="347216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Free, hosting su GCP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65092" y="347216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6075" y="391537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IAM Identity Center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47171" y="391537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Free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65092" y="391537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6075" y="435858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Profis (compliance)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47171" y="4358580"/>
            <a:ext cx="329745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Attivo per 1 anno, costo una tantum, nessun costo di migrazione applicativo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65092" y="435858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6075" y="504696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Backup (locale + S3)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47171" y="504696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Cifrato e ridondato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65092" y="504696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6075" y="549017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TOTALE ANNUO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47171" y="549017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65092" y="549017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11.600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6075" y="593338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TOTALE 3 ANNI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47171" y="5933380"/>
            <a:ext cx="390703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65092" y="5933380"/>
            <a:ext cx="391021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35.000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27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Riepilogo Totale Offerta (3 anni)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690191"/>
            <a:ext cx="10868745" cy="2416870"/>
          </a:xfrm>
          <a:prstGeom prst="roundRect">
            <a:avLst>
              <a:gd name="adj" fmla="val 102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61475" y="217547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61475" y="265757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61475" y="313967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61475" y="3621782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286937" y="1690191"/>
            <a:ext cx="10337" cy="24168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904858" y="1690191"/>
            <a:ext cx="10337" cy="24168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34310" y="1802110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55406" y="1802110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Totale 3 anni ($)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73327" y="1802110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Totale 3 anni (€)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4310" y="2284214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HPC (EC2 Savings Plans)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55406" y="2284214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500.500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73327" y="2284214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440.000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310" y="2766318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Integration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55406" y="2766318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40.000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73327" y="2766318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35.000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4310" y="3248422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Pondus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55406" y="3248422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92.000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73327" y="3248422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81.000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310" y="3730526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TOTALE OFFERTA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55406" y="3730526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631.500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73327" y="3730526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556.000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1475" y="4375745"/>
            <a:ext cx="3485071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556K€</a:t>
            </a:r>
            <a:endParaRPr lang="en-US" sz="4250" dirty="0"/>
          </a:p>
        </p:txBody>
      </p:sp>
      <p:sp>
        <p:nvSpPr>
          <p:cNvPr id="26" name="Text 24"/>
          <p:cNvSpPr/>
          <p:nvPr/>
        </p:nvSpPr>
        <p:spPr>
          <a:xfrm>
            <a:off x="661475" y="5128220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Investimento Totale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1475" y="5485904"/>
            <a:ext cx="34850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Stima complessiva su 3 anni, al netto di IVA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53213" y="4375745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95%</a:t>
            </a:r>
            <a:endParaRPr lang="en-US" sz="4250" dirty="0"/>
          </a:p>
        </p:txBody>
      </p:sp>
      <p:sp>
        <p:nvSpPr>
          <p:cNvPr id="29" name="Text 27"/>
          <p:cNvSpPr/>
          <p:nvPr/>
        </p:nvSpPr>
        <p:spPr>
          <a:xfrm>
            <a:off x="4353213" y="5128220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Disponibilità Annua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53213" y="5485904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Obiettivo di uptime garantito per l'infrastruttura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5050" y="4375745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12</a:t>
            </a:r>
            <a:endParaRPr lang="en-US" sz="4250" dirty="0"/>
          </a:p>
        </p:txBody>
      </p:sp>
      <p:sp>
        <p:nvSpPr>
          <p:cNvPr id="32" name="Text 30"/>
          <p:cNvSpPr/>
          <p:nvPr/>
        </p:nvSpPr>
        <p:spPr>
          <a:xfrm>
            <a:off x="8045050" y="5128220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Nodi HPC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45050" y="5485904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Istanze EC2 hpc7g.4xlarge nel cluster AWS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226C-A918-2FE0-F517-25E0CDF3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793C54-D10A-7BD5-4832-DA944AF92CE0}"/>
              </a:ext>
            </a:extLst>
          </p:cNvPr>
          <p:cNvSpPr/>
          <p:nvPr/>
        </p:nvSpPr>
        <p:spPr>
          <a:xfrm>
            <a:off x="661475" y="31706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50" b="0" i="0" u="none" strike="noStrike" kern="1200" cap="none" spc="0" normalizeH="0" baseline="0" noProof="0" dirty="0">
                <a:ln>
                  <a:noFill/>
                </a:ln>
                <a:solidFill>
                  <a:srgbClr val="030303"/>
                </a:solidFill>
                <a:effectLst/>
                <a:uLnTx/>
                <a:uFillTx/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Grazie per </a:t>
            </a:r>
            <a:r>
              <a:rPr kumimoji="0" lang="en-US" sz="3250" b="0" i="0" u="none" strike="noStrike" kern="1200" cap="none" spc="0" normalizeH="0" baseline="0" noProof="0" dirty="0" err="1">
                <a:ln>
                  <a:noFill/>
                </a:ln>
                <a:solidFill>
                  <a:srgbClr val="030303"/>
                </a:solidFill>
                <a:effectLst/>
                <a:uLnTx/>
                <a:uFillTx/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l’attenzione</a:t>
            </a:r>
            <a:endParaRPr kumimoji="0" lang="en-US" sz="3250" b="0" i="0" u="none" strike="noStrike" kern="1200" cap="none" spc="0" normalizeH="0" baseline="0" noProof="0" dirty="0">
              <a:ln>
                <a:noFill/>
              </a:ln>
              <a:solidFill>
                <a:srgbClr val="030303"/>
              </a:solidFill>
              <a:effectLst/>
              <a:uLnTx/>
              <a:uFillTx/>
              <a:latin typeface="DM Sans SemiBold" pitchFamily="34" charset="0"/>
              <a:ea typeface="DM Sans SemiBold" pitchFamily="34" charset="-122"/>
              <a:cs typeface="DM Sans SemiBold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</a:rPr>
              <a:t>MOSAIC GROUP</a:t>
            </a:r>
            <a:endParaRPr kumimoji="0" lang="en-US" sz="3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29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1119</Words>
  <Application>Microsoft Office PowerPoint</Application>
  <PresentationFormat>Widescreen</PresentationFormat>
  <Paragraphs>214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DM Sans SemiBold</vt:lpstr>
      <vt:lpstr>Aptos</vt:lpstr>
      <vt:lpstr>Inter Medium</vt:lpstr>
      <vt:lpstr>Inter Bold</vt:lpstr>
      <vt:lpstr>Arial</vt:lpstr>
      <vt:lpstr>DM Sans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Alessandro Verduna</cp:lastModifiedBy>
  <cp:revision>3</cp:revision>
  <dcterms:created xsi:type="dcterms:W3CDTF">2026-07-20T09:53:55Z</dcterms:created>
  <dcterms:modified xsi:type="dcterms:W3CDTF">2026-07-20T12:55:35Z</dcterms:modified>
</cp:coreProperties>
</file>